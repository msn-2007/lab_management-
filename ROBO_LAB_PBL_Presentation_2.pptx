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WOXSEN UNIVERSITY •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040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A"/>
                </a:solidFill>
                <a:latin typeface="Aptos"/>
              </a:defRPr>
            </a:pPr>
            <a:r>
              <a:t>Database implementation,</a:t>
            </a:r>
            <a:br/>
            <a:r>
              <a:t>normalization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1C2CF"/>
                </a:solidFill>
                <a:latin typeface="Aptos"/>
              </a:defRPr>
            </a:pPr>
            <a:r>
              <a:t>ROBO-LAB</a:t>
            </a:r>
            <a:br/>
            <a:r>
              <a:t>Robotics Laboratory Resource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143000"/>
            <a:ext cx="3520440" cy="29260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IMPLEMENTATION STACK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Python + Flask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MySQL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mysql-connector-python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HTML / CSS / JavaScript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19 relational tables</a:t>
            </a:r>
          </a:p>
          <a:p>
            <a:pPr>
              <a:spcBef>
                <a:spcPts val="600"/>
              </a:spcBef>
              <a:defRPr sz="1300">
                <a:solidFill>
                  <a:srgbClr val="B1C2CF"/>
                </a:solidFill>
                <a:latin typeface="Aptos"/>
              </a:defRPr>
            </a:pPr>
            <a:r>
              <a:t>Triggers +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01 — IMPLEMENTATION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From the ER model to 19 MySQL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conceptual design is translated into a normalized relational database with integrity rules and analytical objects.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83280" cy="33832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RELATIONAL MAPPING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19 entities become 19 relational tables.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Primary keys identify records.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Foreign keys carry relationships.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Composite key used for PROJECT_MEMBERS.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83280" cy="33832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INTEGRITY LAYER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PRIMARY KEY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FOREIGN KEY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UNIQUE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NOT NULL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CHECK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ENUM status domains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2011680"/>
            <a:ext cx="3383280" cy="33832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DATABASE OBJECTS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5 SQL views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3 database triggers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10 analytical SQL queries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Seed data for demonstration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InnoDB storage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02 —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Why the ROBO-LAB schema stops at Third Normal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design separates independent facts into dedicated relations and resolves descriptions through foreign-key joins.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37560" cy="30632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600" b="1">
                <a:solidFill>
                  <a:srgbClr val="F5F8FA"/>
                </a:solidFill>
                <a:latin typeface="Aptos"/>
              </a:defRPr>
            </a:pPr>
            <a:r>
              <a:t>1NF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Atomic attributes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No repeating groups inside a row.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Examples: equipment name, status, quantity and location are stored as individual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148840"/>
            <a:ext cx="3337560" cy="30632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600" b="1">
                <a:solidFill>
                  <a:srgbClr val="F5F8FA"/>
                </a:solidFill>
                <a:latin typeface="Aptos"/>
              </a:defRPr>
            </a:pPr>
            <a:r>
              <a:t>2NF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Full dependency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Transaction attributes depend on the complete key.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PROJECT_MEMBERS uses a composite key (project_id, user_id).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2148840"/>
            <a:ext cx="3337560" cy="30632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600" b="1">
                <a:solidFill>
                  <a:srgbClr val="F5F8FA"/>
                </a:solidFill>
                <a:latin typeface="Aptos"/>
              </a:defRPr>
            </a:pPr>
            <a:r>
              <a:t>3NF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No transitive dependency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Category, laboratory, vendor and role facts are separated into their own tables.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Non-key attributes depend on the row's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03 — DATABASE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Database objects that make the DBMS concepts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implementation separates schema definition, sample data, automated rules and repeatable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DDL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database/schema.sql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19 tables +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659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TRIGGERS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3 automated rules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Stock + return +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9659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VIEWS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5 reusable SQL views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Availability, allocations, stock, maintenance,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SEED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database/seed.sql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Realistic robotics-lab sample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7947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QUERIES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database/queries.sql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10 analytical SQL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94760"/>
            <a:ext cx="3337560" cy="14173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APPLICATION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Python Flask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17 Jinja2 screens +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04 —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Application-to-database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database remains the system of record for inventory, bookings, allocations, maintenance and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057400" cy="777240"/>
          </a:xfrm>
          <a:prstGeom prst="roundRect">
            <a:avLst/>
          </a:prstGeom>
          <a:solidFill>
            <a:srgbClr val="11304C"/>
          </a:solidFill>
          <a:ln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0632" y="288950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2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2057400" cy="777240"/>
          </a:xfrm>
          <a:prstGeom prst="roundRect">
            <a:avLst/>
          </a:prstGeom>
          <a:solidFill>
            <a:srgbClr val="11304C"/>
          </a:solidFill>
          <a:ln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Flask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288950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2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743200"/>
            <a:ext cx="2057400" cy="777240"/>
          </a:xfrm>
          <a:prstGeom prst="roundRect">
            <a:avLst/>
          </a:prstGeom>
          <a:solidFill>
            <a:srgbClr val="11304C"/>
          </a:solidFill>
          <a:ln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DB helper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288950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2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43200"/>
            <a:ext cx="2057400" cy="777240"/>
          </a:xfrm>
          <a:prstGeom prst="roundRect">
            <a:avLst/>
          </a:prstGeom>
          <a:solidFill>
            <a:srgbClr val="11304C"/>
          </a:solidFill>
          <a:ln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1592" y="288950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2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81359" y="2743200"/>
            <a:ext cx="2057400" cy="777240"/>
          </a:xfrm>
          <a:prstGeom prst="roundRect">
            <a:avLst/>
          </a:prstGeom>
          <a:solidFill>
            <a:srgbClr val="11304C"/>
          </a:solidFill>
          <a:ln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Updated screen /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0520"/>
            <a:ext cx="4754880" cy="13258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READ OPERATIONS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Equipment catalogue • component stock • project data • maintenance history •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160520"/>
            <a:ext cx="4754880" cy="13258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WRITE OPERATIONS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CRUD transactions • bookings • allocations • returns • breakdowns • requisitions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05 — DATABASE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Integrity constraints and automated business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Rules are enforced at the database boundary where appropriate, not only by the user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7472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CONSTRAINTS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Equipment serial number → UNIQUE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Component quantities → CHECK ≥ 0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Minimum stock → CHECK ≥ 0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Unit cost → CHECK ≥ 0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Foreign keys → referential integrity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ENUM → controlled status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920240"/>
            <a:ext cx="347472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TRIGGER 1 + 2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Allocation INSERT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→ decrease available_quantity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Return INSERT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→ restore quantity conditionally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This keeps inventory totals synchronized with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20240"/>
            <a:ext cx="3474720" cy="347472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TRIGGER 3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Breakdown INSERT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→ if severity is High/Critical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→ equipment status becomes Maintenance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Maintenance workflow can later restore equipment to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06 — RELATIONAL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19 tables and the important foreign-key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Master tables hold reusable facts; transaction tables connect users, projects and laboratory resources.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874519"/>
          <a:ext cx="5486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94854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IMPORTANT FOREIGN KEYS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ROLES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role_id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role_id → ROLES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LABORATORIES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lab_id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incharge_id → USERS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EQUIPMENT_CATEGORIES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category_id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category_id, laboratory_id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COMPONENT_CATEGORIES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category_id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COMPONENTS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component_id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category_id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guide_faculty_id → USERS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PROJECT_MEMBERS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project_id + user_id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project_id, user_id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3948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BOOKINGS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booking_id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equipment_id, user_id, project_id, approved_by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5352" y="1874519"/>
          <a:ext cx="53492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4343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IMPORTANT FOREIGN KEYS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EQUIPMENT_ALLOCATION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allocation_id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component_id, user_id, project_id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USAGE_LOGS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log_id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equipment_id, user_id, project_id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RETURNS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return_id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allocation_id, verified_by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VENDORS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vendor_id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BREAKDOWNS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breakdown_id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equipment_id, reported_by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MAINTENANCE_JOBS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job_id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equipment_id, breakdown_id, vendor_id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CALIBRATIONS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calibration_id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notification_id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REQUISITIONS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requisition_id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component_id, requested_by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07 — REPORTING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Repeatable questions answered with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project includes five reusable views and a ten-query analytical bank.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383280" cy="36118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5 SQL VIEWS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vw_available_equipment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vw_active_allocations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vw_low_stock_components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vw_equipment_maintenance_history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vw_booking_summary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74519"/>
            <a:ext cx="3383280" cy="36118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QUERY TECHNIQUES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3-table / 4-table JOINs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LEFT JOIN + COALESCE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GROUP BY + COUNT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Conditional SUM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HAVING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Subqueries IN / NOT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874519"/>
            <a:ext cx="3383280" cy="361188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ADDITIONAL ANALYSIS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DATEDIFF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UNION ALL timeline aggregation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Inventory availability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Utilization and booking analysis</a:t>
            </a:r>
          </a:p>
          <a:p>
            <a:pPr>
              <a:spcBef>
                <a:spcPts val="600"/>
              </a:spcBef>
              <a:defRPr sz="1100">
                <a:solidFill>
                  <a:srgbClr val="B1C2CF"/>
                </a:solidFill>
                <a:latin typeface="Aptos"/>
              </a:defRPr>
            </a:pPr>
            <a:r>
              <a:t>Maintenance and stock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08 —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Positive and negative paths for the implemented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validation set demonstrates both successful transactions and correctly rejected operations.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26574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71C31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D2AA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 insertion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Duplicate serial number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Sufficient component allocation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Insufficient stock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Booking creation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Booking approval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Booking rejection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TC-08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Good return restores stock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TC-10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High-severity breakdown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TC-12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Maintenance completion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TC-15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Admin self-delete protection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TC-16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Student equipment-add restriction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TC-18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Low-stock report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  <a:tr h="26574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TC-19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Equipment utilization report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08233E"/>
                    </a:solidFill>
                  </a:tcPr>
                </a:tc>
              </a:tr>
              <a:tr h="2657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TC-20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Received requisition increases stock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8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130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343400" y="6199632"/>
            <a:ext cx="3474720" cy="384048"/>
          </a:xfrm>
          <a:prstGeom prst="round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C31"/>
                </a:solidFill>
                <a:latin typeface="Aptos"/>
              </a:defRPr>
            </a:pPr>
            <a:r>
              <a:t>20 / 20 TEST CASES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2AA"/>
                </a:solidFill>
                <a:latin typeface="Aptos"/>
              </a:defRPr>
            </a:pPr>
            <a:r>
              <a:t>REVIEW 2 →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A"/>
                </a:solidFill>
                <a:latin typeface="Aptos"/>
              </a:defRPr>
            </a:pPr>
            <a:r>
              <a:t>Database implementation is ready for final application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43000" cy="41148"/>
          </a:xfrm>
          <a:prstGeom prst="rect">
            <a:avLst/>
          </a:prstGeom>
          <a:solidFill>
            <a:srgbClr val="00D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C2CF"/>
                </a:solidFill>
                <a:latin typeface="Aptos"/>
              </a:defRPr>
            </a:pPr>
            <a:r>
              <a:t>The next presentation should focus on live screens, transaction evidence, SQL outputs and final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3383280" cy="32918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DATABASE COMPLETE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19 tables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3 triggers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5 views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10 analytical queries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Seed data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PK / FK / UNIQUE / CHECK / ENUM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83280" cy="32918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VALIDATION COMPLETE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20 / 20 test cases passed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Positive and negative paths tested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Business rules enforced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Stock automation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2011680"/>
            <a:ext cx="3383280" cy="3291840"/>
          </a:xfrm>
          <a:prstGeom prst="roundRect">
            <a:avLst/>
          </a:prstGeom>
          <a:solidFill>
            <a:srgbClr val="11304C"/>
          </a:solidFill>
          <a:ln w="12700">
            <a:solidFill>
              <a:srgbClr val="00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NEXT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Working application screens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Booking and allocation workflows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Trigger output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Equipment availability report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Low-stock report</a:t>
            </a:r>
          </a:p>
          <a:p>
            <a:pPr>
              <a:spcBef>
                <a:spcPts val="600"/>
              </a:spcBef>
              <a:defRPr sz="1200">
                <a:solidFill>
                  <a:srgbClr val="B1C2CF"/>
                </a:solidFill>
                <a:latin typeface="Aptos"/>
              </a:defRPr>
            </a:pPr>
            <a:r>
              <a:t>Final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1C2CF"/>
                </a:solidFill>
                <a:latin typeface="Aptos"/>
              </a:defRPr>
            </a:pPr>
            <a:r>
              <a:t>ROBO-LAB • DBMS COURSE PROJECT •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1C2C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