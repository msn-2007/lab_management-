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WOXSEN UNIVERSITY • DBMS PBL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74980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A"/>
                </a:solidFill>
                <a:latin typeface="Aptos"/>
              </a:defRPr>
            </a:pPr>
            <a:r>
              <a:t>ROBO-LAB</a:t>
            </a:r>
            <a:br/>
            <a:r>
              <a:t>Final System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7180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1C2CF"/>
                </a:solidFill>
                <a:latin typeface="Aptos"/>
              </a:defRPr>
            </a:pPr>
            <a:r>
              <a:t>Working application • Database outputs • Validation •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143000"/>
            <a:ext cx="3429000" cy="306324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FINAL REVIEW EVIDENCE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Flask web application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MySQL database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19 relational tables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5 SQL views + 3 triggers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Reports Playground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20 / 20 test cases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01 — 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Application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final system connects the user interface to the relational database and exposes the main laboratory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337560" cy="34747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AUTHENTICATION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Login / registration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Role-aware session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Admin, Lab Technician, Faculty, Student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Database: USERS +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965960"/>
            <a:ext cx="3337560" cy="34747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OPERATIONS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Equipment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Components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Projects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Bookings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Allocations / Returns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Maintenance / Calibration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Procurement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7304" y="1965960"/>
            <a:ext cx="3337560" cy="34747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DATABASE OUTPUT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Live inventory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Status changes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Stock changes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Reports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Notifications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Audit / timeline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02 — APPLICATION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Login and role-based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Running Flask application — login, demo personas and role-aware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9" name="Picture 8" descr="Screenshot 2026-10-07 1924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969" y="1874519"/>
            <a:ext cx="6409581" cy="3886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833872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19BA5"/>
                </a:solidFill>
              </a:defRPr>
            </a:pPr>
            <a:r>
              <a:t>Figure 2 — Login / role-selection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03 — APPLICATION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Role-tailored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Dashboard and project-management evidence from the running prototype.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9" name="Picture 8" descr="Screenshot 2026-10-08 002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0994"/>
            <a:ext cx="6400800" cy="3041730"/>
          </a:xfrm>
          <a:prstGeom prst="rect">
            <a:avLst/>
          </a:prstGeom>
        </p:spPr>
      </p:pic>
      <p:pic>
        <p:nvPicPr>
          <p:cNvPr id="10" name="Picture 9" descr="Screenshot 2026-10-08 0029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391614"/>
            <a:ext cx="4343400" cy="21204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23036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19BA5"/>
                </a:solidFill>
              </a:defRPr>
            </a:pPr>
            <a:r>
              <a:t>Figure 3 — Student portal dashboard and academic robotics projects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04 — APPLICATION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Equipment catalogue and filtering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equipment catalogue is exposed with role-specific navigation and controls.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9" name="Picture 8" descr="Screenshot 2026-10-07 1927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73559"/>
            <a:ext cx="5349240" cy="2539481"/>
          </a:xfrm>
          <a:prstGeom prst="rect">
            <a:avLst/>
          </a:prstGeom>
        </p:spPr>
      </p:pic>
      <p:pic>
        <p:nvPicPr>
          <p:cNvPr id="10" name="Picture 9" descr="Screenshot 2026-10-07 1929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266648"/>
            <a:ext cx="5349240" cy="2553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4864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19BA5"/>
                </a:solidFill>
              </a:defRPr>
            </a:pPr>
            <a:r>
              <a:t>Figure 4 — Student and Admin equipment catalogue 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05 — APPLICATION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Procurement and module reorder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available screenshot shows procurement, replenishment priority, quantities, cost estimates, vendors and order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9" name="Picture 8" descr="Screenshot 2026-10-07 193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342" y="1828800"/>
            <a:ext cx="7680554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65099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19BA5"/>
                </a:solidFill>
              </a:defRPr>
            </a:pPr>
            <a:r>
              <a:t>Application evidence — Procurement &amp; Module Reorder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06 — APPLICATION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Booking and approval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Booking requests, approval states and the booking form are demonstrated in the live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9" name="Picture 8" descr="Screenshot 2026-10-07 1931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08" y="1828800"/>
            <a:ext cx="6849559" cy="3566160"/>
          </a:xfrm>
          <a:prstGeom prst="rect">
            <a:avLst/>
          </a:prstGeom>
        </p:spPr>
      </p:pic>
      <p:pic>
        <p:nvPicPr>
          <p:cNvPr id="10" name="Picture 9" descr="Screenshot 2026-10-08 0028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275639"/>
            <a:ext cx="3611880" cy="26724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5321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19BA5"/>
                </a:solidFill>
              </a:defRPr>
            </a:pPr>
            <a:r>
              <a:t>Figure 6 — Booking list and booking-request 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07 — APPLICATION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Component issue and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Issued quantities, borrowers, projects, due dates and return verification are visible in the allocation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9" name="Picture 8" descr="Screenshot 2026-10-07 193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022" y="1828800"/>
            <a:ext cx="6573195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65099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19BA5"/>
                </a:solidFill>
              </a:defRPr>
            </a:pPr>
            <a:r>
              <a:t>Figure 7 — Component issue and return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08 — APPLICATION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Maintenance and breakdown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Maintenance status, vendor, cost, incident severity and resolution state are demonstrated.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9" name="Picture 8" descr="Screenshot 2026-10-07 193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415" y="1828800"/>
            <a:ext cx="7208408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65099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19BA5"/>
                </a:solidFill>
              </a:defRPr>
            </a:pPr>
            <a:r>
              <a:t>Figure 8 — Maintenance jobs and reported breakdowns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09 — REPORTS 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SQL output and analytical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Reports Playground executes predefined SQL reports using JOINs, GROUP BY, HAVING, subqueries and aggregation.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74519"/>
            <a:ext cx="4983480" cy="150876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AVAILABLE REPORTS</a:t>
            </a:r>
          </a:p>
          <a:p>
            <a:pPr>
              <a:spcBef>
                <a:spcPts val="500"/>
              </a:spcBef>
              <a:defRPr sz="1000">
                <a:solidFill>
                  <a:srgbClr val="B1C2CF"/>
                </a:solidFill>
                <a:latin typeface="Aptos"/>
              </a:defRPr>
            </a:pPr>
            <a:r>
              <a:t>R-01 Available Equipment</a:t>
            </a:r>
          </a:p>
          <a:p>
            <a:pPr>
              <a:spcBef>
                <a:spcPts val="500"/>
              </a:spcBef>
              <a:defRPr sz="1000">
                <a:solidFill>
                  <a:srgbClr val="B1C2CF"/>
                </a:solidFill>
                <a:latin typeface="Aptos"/>
              </a:defRPr>
            </a:pPr>
            <a:r>
              <a:t>R-02 Current Component Allocations</a:t>
            </a:r>
          </a:p>
          <a:p>
            <a:pPr>
              <a:spcBef>
                <a:spcPts val="500"/>
              </a:spcBef>
              <a:defRPr sz="1000">
                <a:solidFill>
                  <a:srgbClr val="B1C2CF"/>
                </a:solidFill>
                <a:latin typeface="Aptos"/>
              </a:defRPr>
            </a:pPr>
            <a:r>
              <a:t>R-03 Low Stock &amp; Inventory Shortage</a:t>
            </a:r>
          </a:p>
          <a:p>
            <a:pPr>
              <a:spcBef>
                <a:spcPts val="500"/>
              </a:spcBef>
              <a:defRPr sz="1000">
                <a:solidFill>
                  <a:srgbClr val="B1C2CF"/>
                </a:solidFill>
                <a:latin typeface="Aptos"/>
              </a:defRPr>
            </a:pPr>
            <a:r>
              <a:t>R-04 Maintenance &amp; Repair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3611880"/>
            <a:ext cx="4983480" cy="169164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MORE ANALYTICS</a:t>
            </a:r>
          </a:p>
          <a:p>
            <a:pPr>
              <a:spcBef>
                <a:spcPts val="500"/>
              </a:spcBef>
              <a:defRPr sz="1000">
                <a:solidFill>
                  <a:srgbClr val="B1C2CF"/>
                </a:solidFill>
                <a:latin typeface="Aptos"/>
              </a:defRPr>
            </a:pPr>
            <a:r>
              <a:t>R-05 Equipment Utilization</a:t>
            </a:r>
          </a:p>
          <a:p>
            <a:pPr>
              <a:spcBef>
                <a:spcPts val="500"/>
              </a:spcBef>
              <a:defRPr sz="1000">
                <a:solidFill>
                  <a:srgbClr val="B1C2CF"/>
                </a:solidFill>
                <a:latin typeface="Aptos"/>
              </a:defRPr>
            </a:pPr>
            <a:r>
              <a:t>R-06 Component Value per Project</a:t>
            </a:r>
          </a:p>
          <a:p>
            <a:pPr>
              <a:spcBef>
                <a:spcPts val="500"/>
              </a:spcBef>
              <a:defRPr sz="1000">
                <a:solidFill>
                  <a:srgbClr val="B1C2CF"/>
                </a:solidFill>
                <a:latin typeface="Aptos"/>
              </a:defRPr>
            </a:pPr>
            <a:r>
              <a:t>R-07 Breakdown Frequency</a:t>
            </a:r>
          </a:p>
          <a:p>
            <a:pPr>
              <a:spcBef>
                <a:spcPts val="500"/>
              </a:spcBef>
              <a:defRPr sz="1000">
                <a:solidFill>
                  <a:srgbClr val="B1C2CF"/>
                </a:solidFill>
                <a:latin typeface="Aptos"/>
              </a:defRPr>
            </a:pPr>
            <a:r>
              <a:t>R-08 Calibration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1" name="Picture 10" descr="Screenshot 2026-10-07 1935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02282"/>
            <a:ext cx="5669280" cy="18191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42239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19BA5"/>
                </a:solidFill>
              </a:defRPr>
            </a:pPr>
            <a:r>
              <a:t>Figure 9 — Reports Playground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10 — DATABASE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Representative SQL report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These outputs are based on the report's seed-data examples; actual values can vary with database state.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9728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648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EQUIPMENT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EQ005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Bantam PCB Milling Machine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Subtractive Fabrication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EQ006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DJI Matrice Autonomous Drone Base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Autonomous Mobile Robots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EQ001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6-DOF Articulated Robotic Arm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Robotic Arms &amp; Manipulators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EQ003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Rigol 100MHz Digital Oscilloscope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Test &amp; Measurement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EQ007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Delta High-Speed Pick &amp; Place Robot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Robotic Arms &amp; Manipulators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892040"/>
            <a:ext cx="10972800" cy="91440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300" b="1">
                <a:solidFill>
                  <a:srgbClr val="F5F8FA"/>
                </a:solidFill>
                <a:latin typeface="Aptos"/>
              </a:defRPr>
            </a:pPr>
            <a:r>
              <a:t>LOW-STOCK OUTPUT</a:t>
            </a:r>
          </a:p>
          <a:p>
            <a:pPr>
              <a:spcBef>
                <a:spcPts val="500"/>
              </a:spcBef>
              <a:defRPr sz="1000">
                <a:solidFill>
                  <a:srgbClr val="B1C2CF"/>
                </a:solidFill>
                <a:latin typeface="Aptos"/>
              </a:defRPr>
            </a:pPr>
            <a:r>
              <a:t>C010: OAK-D Spatial AI Camera Module — available 1 / minimum 2 / shortage 1. C005 and C006 are at their minimum threshold.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11 — LIVE DATABASE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Trigger verification: component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report defines trg_after_allocation_insert to decrement available_quantity after an allocation is inserted.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154680" cy="205740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800" b="1">
                <a:solidFill>
                  <a:srgbClr val="F5F8FA"/>
                </a:solidFill>
                <a:latin typeface="Aptos"/>
              </a:defRPr>
            </a:pPr>
            <a:r>
              <a:t>BEFORE ALLOCATION</a:t>
            </a:r>
          </a:p>
          <a:p>
            <a:pPr>
              <a:spcBef>
                <a:spcPts val="500"/>
              </a:spcBef>
              <a:defRPr sz="1400">
                <a:solidFill>
                  <a:srgbClr val="B1C2CF"/>
                </a:solidFill>
                <a:latin typeface="Aptos"/>
              </a:defRPr>
            </a:pPr>
            <a:r>
              <a:t>C001</a:t>
            </a:r>
          </a:p>
          <a:p>
            <a:pPr>
              <a:spcBef>
                <a:spcPts val="500"/>
              </a:spcBef>
              <a:defRPr sz="1400">
                <a:solidFill>
                  <a:srgbClr val="B1C2CF"/>
                </a:solidFill>
                <a:latin typeface="Aptos"/>
              </a:defRPr>
            </a:pPr>
            <a:r>
              <a:t>available_quantity =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514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D2AA"/>
                </a:solidFill>
                <a:latin typeface="Aptos"/>
              </a:defRPr>
            </a:pPr>
            <a:r>
              <a:t>− 3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65960"/>
            <a:ext cx="3154680" cy="205740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800" b="1">
                <a:solidFill>
                  <a:srgbClr val="F5F8FA"/>
                </a:solidFill>
                <a:latin typeface="Aptos"/>
              </a:defRPr>
            </a:pPr>
            <a:r>
              <a:t>TRANSACTION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Allocate 3 units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EQUIPMENT_ALLOCATION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component_id = C001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514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D2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965960"/>
            <a:ext cx="3154680" cy="205740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800" b="1">
                <a:solidFill>
                  <a:srgbClr val="F5F8FA"/>
                </a:solidFill>
                <a:latin typeface="Aptos"/>
              </a:defRPr>
            </a:pPr>
            <a:r>
              <a:t>AFTER TRIGGER</a:t>
            </a:r>
          </a:p>
          <a:p>
            <a:pPr>
              <a:spcBef>
                <a:spcPts val="500"/>
              </a:spcBef>
              <a:defRPr sz="1400">
                <a:solidFill>
                  <a:srgbClr val="B1C2CF"/>
                </a:solidFill>
                <a:latin typeface="Aptos"/>
              </a:defRPr>
            </a:pPr>
            <a:r>
              <a:t>C001</a:t>
            </a:r>
          </a:p>
          <a:p>
            <a:pPr>
              <a:spcBef>
                <a:spcPts val="500"/>
              </a:spcBef>
              <a:defRPr sz="1400">
                <a:solidFill>
                  <a:srgbClr val="B1C2CF"/>
                </a:solidFill>
                <a:latin typeface="Aptos"/>
              </a:defRPr>
            </a:pPr>
            <a:r>
              <a:t>available_quantity =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4434840"/>
            <a:ext cx="9784080" cy="105156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VERIFICATION RESULT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The allocation trigger automatically decreases available stock by the issued quantity.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12 — BUSINESS RULE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The system accepts valid transactions and rejects invalid 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Selected tests demonstrate database constraints, application validation and role-based restrictions.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605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OBSERVED RESULT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Valid equipment registration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Record created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Duplicate serial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Duplicate rejected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Allocate 25 when 20 available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Insufficient stock rejected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Faculty approves booking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Status → APPROVED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TC-10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High/Critical breakdown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 → Maintenance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TC-12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Maintenance completed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 → Available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TC-15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Admin deletes own account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Operation prevented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TC-16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Student adds equipment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Unauthorized operation prevented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TC-20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Requisition received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C001 stock +10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13 — TEST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20 / 20 test cases passed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completed validation demonstrates that the application correctly uses the designed database and enforces the documented business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383280" cy="333756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DATABASE OPERATIONS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Equipment registration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Component allocation / return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Bookings and approvals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Maintenance transitions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Procurement stock updates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333756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RULE ENFORCEMENT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Duplicate prevention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Stock validation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Role restrictions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Equipment status transitions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Low-stock detection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Requisition quantity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9016" y="1965960"/>
            <a:ext cx="3383280" cy="333756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800" b="1">
                <a:solidFill>
                  <a:srgbClr val="F5F8FA"/>
                </a:solidFill>
                <a:latin typeface="Aptos"/>
              </a:defRPr>
            </a:pPr>
            <a:r>
              <a:t>RESULT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20 / 20 PASS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Valid operations completed successfully.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Invalid operations were rejected according to the defined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14 — FINAL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ROBO-LAB: database-backed laboratory resource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143000" cy="36576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final prototype connects the conceptual design, relational implementation and application workflows into one demonstrable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383280" cy="333756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DESIGN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19 entities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19 relational tables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3NF normalization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PK / FK relationships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Defined business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333756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IMPLEMENTATION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MySQL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5 views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3 triggers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10 analytical SQL queries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Python Flask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9016" y="1965960"/>
            <a:ext cx="3383280" cy="333756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46304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EVIDENCE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Application workflow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SQL report outputs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Trigger verification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Business-rule validation</a:t>
            </a:r>
          </a:p>
          <a:p>
            <a:pPr>
              <a:spcBef>
                <a:spcPts val="5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20 / 20 test cases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571500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D2AA"/>
                </a:solidFill>
                <a:latin typeface="Aptos"/>
              </a:defRPr>
            </a:pPr>
            <a:r>
              <a:t>NEXT: LIVE DEMO → LOGIN → CRUD → RULE REJECTION →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FINAL REVIEW • DBMS PBL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288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